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1" r:id="rId3"/>
    <p:sldId id="258" r:id="rId4"/>
    <p:sldId id="259" r:id="rId5"/>
    <p:sldId id="260" r:id="rId6"/>
    <p:sldId id="261" r:id="rId7"/>
    <p:sldId id="275" r:id="rId8"/>
    <p:sldId id="274" r:id="rId9"/>
    <p:sldId id="273" r:id="rId10"/>
    <p:sldId id="272" r:id="rId11"/>
    <p:sldId id="276" r:id="rId12"/>
    <p:sldId id="277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-55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CA4986-526B-473E-B234-EBB9FB544B78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5B7987-0E18-4FA8-BD59-3E1691531D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BF20CF-4060-4D2B-9546-769FD9403949}" type="slidenum">
              <a:rPr lang="en-US"/>
              <a:pPr/>
              <a:t>2</a:t>
            </a:fld>
            <a:endParaRPr lang="en-US"/>
          </a:p>
        </p:txBody>
      </p:sp>
      <p:sp>
        <p:nvSpPr>
          <p:cNvPr id="128000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3700" y="690563"/>
            <a:ext cx="6073775" cy="3417887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2800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826" y="4343519"/>
            <a:ext cx="5028350" cy="411583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5716" tIns="42857" rIns="85716" bIns="42857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52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15489" y="2917477"/>
            <a:ext cx="8161020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0F172A"/>
                </a:solidFill>
                <a:latin typeface="Plus Jakarta Sans"/>
              </a:rPr>
              <a:t>Unit 3: 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778446"/>
            <a:ext cx="8769650" cy="961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Introduction, Training Set, Definition of the Classification Problem, Induction Algorithms, Performance Evaluation, Scalability to Large Datasets, The “Curse of Dimensionality”, Decision Trees. </a:t>
            </a:r>
            <a:endParaRPr sz="2400" b="0" i="0" u="none" dirty="0">
              <a:solidFill>
                <a:srgbClr val="475569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986F-37C6-4CC2-A048-E5A02512F9E4}" type="datetime4">
              <a:rPr lang="en-US"/>
              <a:pPr/>
              <a:t>September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Mining: Concepts and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94901-C0D8-48C2-8383-5459E3EF1DA6}" type="slidenum">
              <a:rPr lang="en-US"/>
              <a:pPr/>
              <a:t>2</a:t>
            </a:fld>
            <a:endParaRPr lang="en-US"/>
          </a:p>
        </p:txBody>
      </p:sp>
      <p:sp>
        <p:nvSpPr>
          <p:cNvPr id="1278978" name="Rectangle 2"/>
          <p:cNvSpPr>
            <a:spLocks noGrp="1" noChangeArrowheads="1"/>
          </p:cNvSpPr>
          <p:nvPr>
            <p:ph type="title"/>
          </p:nvPr>
        </p:nvSpPr>
        <p:spPr>
          <a:xfrm>
            <a:off x="1404668" y="228600"/>
            <a:ext cx="10085917" cy="1066800"/>
          </a:xfrm>
          <a:noFill/>
          <a:ln/>
        </p:spPr>
        <p:txBody>
          <a:bodyPr lIns="92075" tIns="46038" rIns="92075" bIns="46038"/>
          <a:lstStyle/>
          <a:p>
            <a:r>
              <a:rPr lang="en-US" dirty="0"/>
              <a:t>Supervised vs. Unsupervised Learning</a:t>
            </a:r>
          </a:p>
        </p:txBody>
      </p:sp>
      <p:sp>
        <p:nvSpPr>
          <p:cNvPr id="1278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0" y="1600200"/>
            <a:ext cx="10871200" cy="48768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20000"/>
              </a:lnSpc>
            </a:pPr>
            <a:r>
              <a:rPr lang="en-US" sz="2400">
                <a:solidFill>
                  <a:srgbClr val="F83F24"/>
                </a:solidFill>
              </a:rPr>
              <a:t>Supervised learning (classification)</a:t>
            </a:r>
            <a:endParaRPr lang="en-US" sz="2400"/>
          </a:p>
          <a:p>
            <a:pPr lvl="1">
              <a:lnSpc>
                <a:spcPct val="120000"/>
              </a:lnSpc>
            </a:pPr>
            <a:r>
              <a:rPr lang="en-US" sz="2400"/>
              <a:t>Supervision: The training data (observations, measurements, etc.) are accompanied by labels indicating the class of the observations</a:t>
            </a:r>
          </a:p>
          <a:p>
            <a:pPr lvl="1">
              <a:lnSpc>
                <a:spcPct val="120000"/>
              </a:lnSpc>
            </a:pPr>
            <a:r>
              <a:rPr lang="en-US" sz="2400"/>
              <a:t>New data is classified based on the training set</a:t>
            </a:r>
          </a:p>
          <a:p>
            <a:pPr>
              <a:lnSpc>
                <a:spcPct val="120000"/>
              </a:lnSpc>
            </a:pPr>
            <a:r>
              <a:rPr lang="en-US" sz="2400">
                <a:solidFill>
                  <a:srgbClr val="F83F24"/>
                </a:solidFill>
              </a:rPr>
              <a:t>Unsupervised learning</a:t>
            </a:r>
            <a:r>
              <a:rPr lang="en-US" sz="2400"/>
              <a:t> </a:t>
            </a:r>
            <a:r>
              <a:rPr lang="en-US" sz="2400">
                <a:solidFill>
                  <a:srgbClr val="FF3300"/>
                </a:solidFill>
              </a:rPr>
              <a:t>(clustering)</a:t>
            </a:r>
          </a:p>
          <a:p>
            <a:pPr lvl="1">
              <a:lnSpc>
                <a:spcPct val="120000"/>
              </a:lnSpc>
            </a:pPr>
            <a:r>
              <a:rPr lang="en-US" sz="2400"/>
              <a:t>The class labels of training data is unknown</a:t>
            </a:r>
          </a:p>
          <a:p>
            <a:pPr lvl="1">
              <a:lnSpc>
                <a:spcPct val="120000"/>
              </a:lnSpc>
            </a:pPr>
            <a:r>
              <a:rPr lang="en-US" sz="2400"/>
              <a:t>Given a set of measurements, observations, etc. with the aim of establishing the existence of classes or clusters in the data</a:t>
            </a:r>
          </a:p>
        </p:txBody>
      </p:sp>
    </p:spTree>
  </p:cSld>
  <p:clrMapOvr>
    <a:masterClrMapping/>
  </p:clrMapOvr>
  <p:transition>
    <p:check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0250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00250"/>
            <a:ext cx="56007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0369A1"/>
                </a:solidFill>
                <a:latin typeface="Plus Jakarta Sans SemiBold"/>
              </a:rPr>
              <a:t>Learning from Labeled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62200"/>
            <a:ext cx="53340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Inter"/>
              </a:rPr>
              <a:t>Supervised learning involves training an algorithm on a dataset containing both the inputs and the "correct answers" (labels). The model learns to map inputs to outputs.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405312"/>
            <a:ext cx="5334000" cy="876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50" y="320278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205162"/>
            <a:ext cx="514350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Inter"/>
              </a:rPr>
              <a:t>Goal: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Infer a mapping function </a:t>
            </a:r>
            <a:r>
              <a:rPr sz="1275" b="0" i="1" u="none" dirty="0">
                <a:solidFill>
                  <a:srgbClr val="334155"/>
                </a:solidFill>
                <a:latin typeface="Inter"/>
              </a:rPr>
              <a:t>f(X) → Y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that generalizes to unseen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380285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805237"/>
            <a:ext cx="514350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Inter"/>
              </a:rPr>
              <a:t>Teacher Signal: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The algorithm is iteratively corrected when its predictions miss the ground truth label.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000250"/>
            <a:ext cx="5334000" cy="3619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0F172A"/>
                </a:solidFill>
                <a:latin typeface="Plus Jakarta Sans"/>
              </a:rPr>
              <a:t>Introduction to Supervised Learning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43112"/>
            <a:ext cx="3524250" cy="3533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043112"/>
            <a:ext cx="3524250" cy="3533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043112"/>
            <a:ext cx="3524250" cy="3533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4062" y="2290762"/>
            <a:ext cx="619125" cy="619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98508" y="3052762"/>
            <a:ext cx="187023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0369A1"/>
                </a:solidFill>
                <a:latin typeface="Plus Jakarta Sans SemiBold"/>
              </a:rPr>
              <a:t>Input Features (X)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414712"/>
            <a:ext cx="3124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The measurable properties or characteristics used for prediction.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110037"/>
            <a:ext cx="3124200" cy="1104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6437" y="2290762"/>
            <a:ext cx="619125" cy="6191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20890" y="3052762"/>
            <a:ext cx="175021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0369A1"/>
                </a:solidFill>
                <a:latin typeface="Plus Jakarta Sans SemiBold"/>
              </a:rPr>
              <a:t>Target Labels (Y)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3900" y="3414712"/>
            <a:ext cx="3124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The outcome variable the model is trying to predict.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3900" y="4110037"/>
            <a:ext cx="3124200" cy="876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8812" y="2290762"/>
            <a:ext cx="619125" cy="6191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68288" y="3052762"/>
            <a:ext cx="138017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0369A1"/>
                </a:solidFill>
                <a:latin typeface="Plus Jakarta Sans SemiBold"/>
              </a:rPr>
              <a:t>Instances (D)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6275" y="3414712"/>
            <a:ext cx="3124200" cy="506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Individual pairs of </a:t>
            </a:r>
            <a:r>
              <a:rPr sz="1275" b="0" i="1" u="none">
                <a:solidFill>
                  <a:srgbClr val="334155"/>
                </a:solidFill>
                <a:latin typeface="Inter"/>
              </a:rPr>
              <a:t>(xi, yi)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forming the historical dataset.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6275" y="4130426"/>
            <a:ext cx="3124200" cy="8763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90750" y="2457450"/>
            <a:ext cx="285750" cy="2857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53125" y="2457450"/>
            <a:ext cx="285750" cy="2857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77400" y="2457450"/>
            <a:ext cx="361950" cy="2857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Anatomy of a Training 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0250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00250"/>
            <a:ext cx="56007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369A1"/>
                </a:solidFill>
                <a:latin typeface="Plus Jakarta Sans SemiBold"/>
              </a:rPr>
              <a:t>Categorizing Data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62200"/>
            <a:ext cx="53340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Classification is a specific type of supervised learning where the target variable </a:t>
            </a:r>
            <a:r>
              <a:rPr sz="1275" b="0" i="1" u="none">
                <a:solidFill>
                  <a:srgbClr val="334155"/>
                </a:solidFill>
                <a:latin typeface="Inter"/>
              </a:rPr>
              <a:t>Y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belongs to a discrete set of classes. The model learns a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decision boundary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to separate these classes.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19537"/>
            <a:ext cx="5334000" cy="876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50" y="320278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205162"/>
            <a:ext cx="5143500" cy="24288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Binary: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Only two possible outcomes (e.g., True/False).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3559968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562350"/>
            <a:ext cx="5143500" cy="24288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Multi-Class: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More than two mutually exclusive outcomes.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000250"/>
            <a:ext cx="5334000" cy="3619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Defining the Classification Problem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64593"/>
            <a:ext cx="5334000" cy="26908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64593"/>
            <a:ext cx="5334000" cy="26908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9150" y="2712243"/>
            <a:ext cx="508063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369A1"/>
                </a:solidFill>
                <a:latin typeface="Plus Jakarta Sans SemiBold"/>
              </a:rPr>
              <a:t>The Inductive 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3074193"/>
            <a:ext cx="48387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Induction assumes that a model that performs well on a large, representative training set will also perform well on unobserved future examples.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3917156"/>
            <a:ext cx="4838700" cy="876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4150" y="2712243"/>
            <a:ext cx="508063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369A1"/>
                </a:solidFill>
                <a:latin typeface="Plus Jakarta Sans SemiBold"/>
              </a:rPr>
              <a:t>Understanding Inductive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074193"/>
            <a:ext cx="48387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Every algorithm makes underlying assumptions (bias) about the target function to generalize beyond the training data. Without it, learning is impossible.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917156"/>
            <a:ext cx="4838700" cy="876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Induction Algorithms &amp; Inductive Bias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Induction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739887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It is </a:t>
            </a:r>
            <a:r>
              <a:rPr lang="en-US" dirty="0" smtClean="0"/>
              <a:t>the process of learning general rules or patterns from specific examples. In data mining and machine learning, induction algorithms learn a </a:t>
            </a:r>
            <a:r>
              <a:rPr lang="en-US" b="1" dirty="0" smtClean="0"/>
              <a:t>model from training data</a:t>
            </a:r>
            <a:r>
              <a:rPr lang="en-US" dirty="0" smtClean="0"/>
              <a:t>. The learned model can then be used to: Predict unknown values </a:t>
            </a:r>
          </a:p>
          <a:p>
            <a:r>
              <a:rPr lang="en-US" dirty="0" smtClean="0"/>
              <a:t>Classify new objects </a:t>
            </a:r>
          </a:p>
          <a:p>
            <a:r>
              <a:rPr lang="en-US" dirty="0" smtClean="0"/>
              <a:t>Discover relationships and patterns </a:t>
            </a:r>
          </a:p>
          <a:p>
            <a:r>
              <a:rPr lang="en-US" b="1" dirty="0" smtClean="0"/>
              <a:t>Example:</a:t>
            </a:r>
            <a:r>
              <a:rPr lang="en-US" dirty="0" smtClean="0"/>
              <a:t> From previous student records, predict whether a new student will pass or fail. Basic process:</a:t>
            </a:r>
            <a:br>
              <a:rPr lang="en-US" dirty="0" smtClean="0"/>
            </a:br>
            <a:r>
              <a:rPr lang="en-US" b="1" dirty="0" smtClean="0"/>
              <a:t>Training </a:t>
            </a:r>
            <a:r>
              <a:rPr lang="en-US" b="1" dirty="0" smtClean="0"/>
              <a:t>Data → Induction Algorithm → Learned Model → Prediction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Induction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981426" cy="45259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1. Decision </a:t>
            </a:r>
            <a:r>
              <a:rPr lang="en-US" b="1" dirty="0" smtClean="0"/>
              <a:t>Tree Induction</a:t>
            </a:r>
            <a:r>
              <a:rPr lang="en-US" dirty="0" smtClean="0"/>
              <a:t> Builds a tree-like classification model. </a:t>
            </a:r>
          </a:p>
          <a:p>
            <a:pPr>
              <a:buNone/>
            </a:pPr>
            <a:r>
              <a:rPr lang="en-US" dirty="0" smtClean="0"/>
              <a:t>Examples: ID3, C4.5, CART. </a:t>
            </a:r>
          </a:p>
          <a:p>
            <a:pPr>
              <a:buNone/>
            </a:pPr>
            <a:r>
              <a:rPr lang="en-US" b="1" dirty="0" smtClean="0"/>
              <a:t>2. Rule-Based </a:t>
            </a:r>
            <a:r>
              <a:rPr lang="en-US" b="1" dirty="0" smtClean="0"/>
              <a:t>Induction</a:t>
            </a:r>
            <a:r>
              <a:rPr lang="en-US" dirty="0" smtClean="0"/>
              <a:t> Generates IF–THEN rules. </a:t>
            </a:r>
          </a:p>
          <a:p>
            <a:pPr>
              <a:buNone/>
            </a:pPr>
            <a:r>
              <a:rPr lang="en-US" dirty="0" smtClean="0"/>
              <a:t>Example:</a:t>
            </a:r>
            <a:br>
              <a:rPr lang="en-US" dirty="0" smtClean="0"/>
            </a:br>
            <a:r>
              <a:rPr lang="en-US" b="1" dirty="0" smtClean="0"/>
              <a:t>IF</a:t>
            </a:r>
            <a:r>
              <a:rPr lang="en-US" dirty="0" smtClean="0"/>
              <a:t> attendance &gt; 75% </a:t>
            </a:r>
            <a:r>
              <a:rPr lang="en-US" b="1" dirty="0" smtClean="0"/>
              <a:t>AND</a:t>
            </a:r>
            <a:r>
              <a:rPr lang="en-US" dirty="0" smtClean="0"/>
              <a:t> marks &gt; 50</a:t>
            </a:r>
            <a:br>
              <a:rPr lang="en-US" dirty="0" smtClean="0"/>
            </a:br>
            <a:r>
              <a:rPr lang="en-US" b="1" dirty="0" smtClean="0"/>
              <a:t>THEN</a:t>
            </a:r>
            <a:r>
              <a:rPr lang="en-US" dirty="0" smtClean="0"/>
              <a:t> Student = Pass. </a:t>
            </a:r>
          </a:p>
          <a:p>
            <a:pPr>
              <a:buNone/>
            </a:pPr>
            <a:r>
              <a:rPr lang="en-US" b="1" dirty="0" smtClean="0"/>
              <a:t>3. Regression-Based </a:t>
            </a:r>
            <a:r>
              <a:rPr lang="en-US" b="1" dirty="0" smtClean="0"/>
              <a:t>Induction</a:t>
            </a:r>
            <a:r>
              <a:rPr lang="en-US" dirty="0" smtClean="0"/>
              <a:t> Learns relationships between variables. </a:t>
            </a:r>
          </a:p>
          <a:p>
            <a:pPr>
              <a:buNone/>
            </a:pPr>
            <a:r>
              <a:rPr lang="en-US" dirty="0" smtClean="0"/>
              <a:t>Used for predicting continuous values. </a:t>
            </a:r>
          </a:p>
          <a:p>
            <a:pPr>
              <a:buNone/>
            </a:pPr>
            <a:r>
              <a:rPr lang="en-US" b="1" dirty="0" smtClean="0"/>
              <a:t>4. Instance-Based </a:t>
            </a:r>
            <a:r>
              <a:rPr lang="en-US" b="1" dirty="0" smtClean="0"/>
              <a:t>Induction</a:t>
            </a:r>
            <a:r>
              <a:rPr lang="en-US" dirty="0" smtClean="0"/>
              <a:t> Makes predictions based on similar training examples. </a:t>
            </a:r>
          </a:p>
          <a:p>
            <a:pPr>
              <a:buNone/>
            </a:pPr>
            <a:r>
              <a:rPr lang="en-US" dirty="0" smtClean="0"/>
              <a:t>     Example</a:t>
            </a:r>
            <a:r>
              <a:rPr lang="en-US" dirty="0" smtClean="0"/>
              <a:t>: k-Nearest Neighbors (k-NN).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Tree Induction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268083"/>
            <a:ext cx="10662249" cy="5322497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A </a:t>
            </a:r>
            <a:r>
              <a:rPr lang="en-US" b="1" dirty="0" smtClean="0"/>
              <a:t>decision tree</a:t>
            </a:r>
            <a:r>
              <a:rPr lang="en-US" dirty="0" smtClean="0"/>
              <a:t> represents knowledge using: </a:t>
            </a:r>
          </a:p>
          <a:p>
            <a:pPr lvl="1"/>
            <a:r>
              <a:rPr lang="en-US" b="1" dirty="0" smtClean="0"/>
              <a:t>Root node</a:t>
            </a:r>
            <a:r>
              <a:rPr lang="en-US" dirty="0" smtClean="0"/>
              <a:t> – starting attribute </a:t>
            </a:r>
          </a:p>
          <a:p>
            <a:pPr lvl="1"/>
            <a:r>
              <a:rPr lang="en-US" b="1" dirty="0" smtClean="0"/>
              <a:t>Internal nodes</a:t>
            </a:r>
            <a:r>
              <a:rPr lang="en-US" dirty="0" smtClean="0"/>
              <a:t> – tests on attributes </a:t>
            </a:r>
          </a:p>
          <a:p>
            <a:pPr lvl="1"/>
            <a:r>
              <a:rPr lang="en-US" b="1" dirty="0" smtClean="0"/>
              <a:t>Branches</a:t>
            </a:r>
            <a:r>
              <a:rPr lang="en-US" dirty="0" smtClean="0"/>
              <a:t> – outcomes of tests </a:t>
            </a:r>
          </a:p>
          <a:p>
            <a:pPr lvl="1"/>
            <a:r>
              <a:rPr lang="en-US" b="1" dirty="0" smtClean="0"/>
              <a:t>Leaf nodes</a:t>
            </a:r>
            <a:r>
              <a:rPr lang="en-US" dirty="0" smtClean="0"/>
              <a:t> – final class/prediction </a:t>
            </a:r>
          </a:p>
          <a:p>
            <a:r>
              <a:rPr lang="en-US" b="1" dirty="0" smtClean="0"/>
              <a:t>Example: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Attendance</a:t>
            </a:r>
            <a:r>
              <a:rPr lang="en-US" dirty="0" smtClean="0"/>
              <a:t>?</a:t>
            </a:r>
          </a:p>
          <a:p>
            <a:pPr>
              <a:buNone/>
            </a:pPr>
            <a:r>
              <a:rPr lang="en-US" dirty="0" smtClean="0"/>
              <a:t>              /        \</a:t>
            </a:r>
          </a:p>
          <a:p>
            <a:pPr>
              <a:buNone/>
            </a:pPr>
            <a:r>
              <a:rPr lang="en-US" dirty="0" smtClean="0"/>
              <a:t>           High         Low</a:t>
            </a:r>
          </a:p>
          <a:p>
            <a:pPr>
              <a:buNone/>
            </a:pPr>
            <a:r>
              <a:rPr lang="en-US" dirty="0" smtClean="0"/>
              <a:t>            /             </a:t>
            </a:r>
            <a:r>
              <a:rPr lang="en-US" dirty="0" smtClean="0"/>
              <a:t>     \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Marks &gt; 50?        Fail</a:t>
            </a:r>
          </a:p>
          <a:p>
            <a:pPr>
              <a:buNone/>
            </a:pPr>
            <a:r>
              <a:rPr lang="en-US" dirty="0" smtClean="0"/>
              <a:t>        /      \</a:t>
            </a:r>
          </a:p>
          <a:p>
            <a:pPr>
              <a:buNone/>
            </a:pPr>
            <a:r>
              <a:rPr lang="en-US" dirty="0" smtClean="0"/>
              <a:t>      Yes       No</a:t>
            </a:r>
          </a:p>
          <a:p>
            <a:pPr>
              <a:buNone/>
            </a:pPr>
            <a:r>
              <a:rPr lang="en-US" dirty="0" smtClean="0"/>
              <a:t>      /          \</a:t>
            </a:r>
          </a:p>
          <a:p>
            <a:pPr>
              <a:buNone/>
            </a:pPr>
            <a:r>
              <a:rPr lang="en-US" dirty="0" smtClean="0"/>
              <a:t>    Pass         Fail</a:t>
            </a:r>
          </a:p>
          <a:p>
            <a:pPr>
              <a:buNone/>
            </a:pPr>
            <a:r>
              <a:rPr lang="en-US" b="1" dirty="0" smtClean="0"/>
              <a:t>Common </a:t>
            </a:r>
            <a:r>
              <a:rPr lang="en-US" b="1" dirty="0" smtClean="0"/>
              <a:t>algorithms: </a:t>
            </a:r>
          </a:p>
          <a:p>
            <a:pPr lvl="1"/>
            <a:r>
              <a:rPr lang="en-US" b="1" dirty="0" smtClean="0"/>
              <a:t>ID3</a:t>
            </a:r>
            <a:r>
              <a:rPr lang="en-US" dirty="0" smtClean="0"/>
              <a:t> – uses Information Gain </a:t>
            </a:r>
          </a:p>
          <a:p>
            <a:pPr lvl="1"/>
            <a:r>
              <a:rPr lang="en-US" b="1" dirty="0" smtClean="0"/>
              <a:t>C4.5</a:t>
            </a:r>
            <a:r>
              <a:rPr lang="en-US" dirty="0" smtClean="0"/>
              <a:t> – uses Gain Ratio </a:t>
            </a:r>
          </a:p>
          <a:p>
            <a:pPr lvl="1"/>
            <a:r>
              <a:rPr lang="en-US" b="1" dirty="0" smtClean="0"/>
              <a:t>CART</a:t>
            </a:r>
            <a:r>
              <a:rPr lang="en-US" dirty="0" smtClean="0"/>
              <a:t> – commonly uses </a:t>
            </a:r>
            <a:r>
              <a:rPr lang="en-US" dirty="0" err="1" smtClean="0"/>
              <a:t>Gini</a:t>
            </a:r>
            <a:r>
              <a:rPr lang="en-US" dirty="0" smtClean="0"/>
              <a:t> Index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General Steps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Induction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532853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   Step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1: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Collect and prepare training data</a:t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Step 2: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Select relevant attributes/features</a:t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Step 3: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Choose the best attribute for splitting</a:t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Step 4: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Divide the dataset into subsets</a:t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Step 5: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Recursively repeat the process</a:t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Step 6: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Stop when a suitable stopping condition is reached</a:t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Step 7: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Prune the model if necessary</a:t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Step 8: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Evaluate the learned model using test data</a:t>
            </a: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Overall: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Data → Attribute Selection → Model Construction → Pruning → Evaluation → Prediction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Advantages, Limitations &amp;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662249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Advantages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Easy to understand and interpret </a:t>
            </a:r>
          </a:p>
          <a:p>
            <a:pPr>
              <a:buNone/>
            </a:pPr>
            <a:r>
              <a:rPr lang="en-US" dirty="0" smtClean="0"/>
              <a:t>Can discover useful patterns </a:t>
            </a:r>
          </a:p>
          <a:p>
            <a:pPr>
              <a:buNone/>
            </a:pPr>
            <a:r>
              <a:rPr lang="en-US" dirty="0" smtClean="0"/>
              <a:t>Supports prediction and classification </a:t>
            </a:r>
          </a:p>
          <a:p>
            <a:pPr>
              <a:buNone/>
            </a:pPr>
            <a:r>
              <a:rPr lang="en-US" dirty="0" smtClean="0"/>
              <a:t>Many algorithms can handle large datasets 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Limitations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May </a:t>
            </a:r>
            <a:r>
              <a:rPr lang="en-US" dirty="0" err="1" smtClean="0"/>
              <a:t>overfit</a:t>
            </a:r>
            <a:r>
              <a:rPr lang="en-US" dirty="0" smtClean="0"/>
              <a:t> training data </a:t>
            </a:r>
          </a:p>
          <a:p>
            <a:pPr>
              <a:buNone/>
            </a:pPr>
            <a:r>
              <a:rPr lang="en-US" dirty="0" smtClean="0"/>
              <a:t>Irrelevant attributes can reduce performance </a:t>
            </a:r>
          </a:p>
          <a:p>
            <a:pPr>
              <a:buNone/>
            </a:pPr>
            <a:r>
              <a:rPr lang="en-US" dirty="0" smtClean="0"/>
              <a:t>Noisy data can affect the learned model </a:t>
            </a:r>
          </a:p>
          <a:p>
            <a:pPr>
              <a:buNone/>
            </a:pPr>
            <a:r>
              <a:rPr lang="en-US" dirty="0" smtClean="0"/>
              <a:t>Complex models may become difficult to interpret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Student </a:t>
            </a:r>
            <a:r>
              <a:rPr lang="en-US" dirty="0" smtClean="0"/>
              <a:t>performance prediction </a:t>
            </a:r>
          </a:p>
          <a:p>
            <a:r>
              <a:rPr lang="en-US" dirty="0" smtClean="0"/>
              <a:t>Medical diagnosis </a:t>
            </a:r>
          </a:p>
          <a:p>
            <a:r>
              <a:rPr lang="en-US" dirty="0" smtClean="0"/>
              <a:t>Credit-risk assessment </a:t>
            </a:r>
          </a:p>
          <a:p>
            <a:r>
              <a:rPr lang="en-US" dirty="0" smtClean="0"/>
              <a:t>Customer classification </a:t>
            </a:r>
          </a:p>
          <a:p>
            <a:r>
              <a:rPr lang="en-US" dirty="0" smtClean="0"/>
              <a:t>Fraud detection </a:t>
            </a:r>
          </a:p>
          <a:p>
            <a:r>
              <a:rPr lang="en-US" dirty="0" smtClean="0"/>
              <a:t>Sales and demand prediction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671762"/>
            <a:ext cx="7620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0369" y="2947987"/>
            <a:ext cx="10091261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F172A"/>
                </a:solidFill>
                <a:latin typeface="Plus Jakarta Sans"/>
              </a:rPr>
              <a:t>Evaluation &amp; Large-Scale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6062" y="3995737"/>
            <a:ext cx="66198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Inter"/>
              </a:rPr>
              <a:t>How to measure success and deal with the complexities of big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8450"/>
            <a:ext cx="5334000" cy="1943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3219450"/>
            <a:ext cx="4572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750"/>
              </a:lnSpc>
            </a:pPr>
            <a:r>
              <a:rPr sz="6750" b="1" i="0" u="none">
                <a:solidFill>
                  <a:srgbClr val="F0F9FF"/>
                </a:solidFill>
                <a:latin typeface="Plus Jakarta Sans"/>
              </a:rPr>
              <a:t>O(N)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17195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FFFFF"/>
                </a:solidFill>
                <a:latin typeface="Inter SemiBold"/>
              </a:rPr>
              <a:t>Desired Time 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597943"/>
            <a:ext cx="56007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369A1"/>
                </a:solidFill>
                <a:latin typeface="Plus Jakarta Sans SemiBold"/>
              </a:rPr>
              <a:t>Overcoming Memory Bottlenecks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959893"/>
            <a:ext cx="53340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Traditional algorithms load all data into RAM. When datasets scale to millions of rows, this becomes physically impossible, requiring scalable solutions.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802856"/>
            <a:ext cx="5334000" cy="1104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Scalability to Large Datasets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Curse of Dimensionality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981075"/>
            <a:ext cx="52863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238250"/>
            <a:ext cx="555069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369A1"/>
                </a:solidFill>
                <a:latin typeface="Plus Jakarta Sans SemiBold"/>
              </a:rPr>
              <a:t>Sparsity in High Dimensions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600200"/>
            <a:ext cx="528637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As the number of features (dimensions) increases, the volume of the feature space grows exponentially, making data instances incredibly sparse.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443162"/>
            <a:ext cx="528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Distance metrics (like Euclidean distance) lose meaning because the distance between any two points becomes nearly identical.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38487"/>
            <a:ext cx="5286375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3805237"/>
            <a:ext cx="10315575" cy="4191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2147887"/>
            <a:ext cx="11049000" cy="790575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5375" y="2290762"/>
            <a:ext cx="103346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Hierarchical Structure: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Consists of internal nodes (feature tests) and leaf nodes (class predictions). It recursively splits data based on rules.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3090862"/>
            <a:ext cx="11049000" cy="1285875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5375" y="3233737"/>
            <a:ext cx="10334625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High Interpretability: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Unlike neural networks, trees can be read as simple </a:t>
            </a:r>
            <a:r>
              <a:rPr sz="1275" b="0" i="1" u="none">
                <a:solidFill>
                  <a:srgbClr val="334155"/>
                </a:solidFill>
                <a:latin typeface="Inter"/>
              </a:rPr>
              <a:t>IF-THEN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rules, making them highly trusted in medical and financial sectors.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4529137"/>
            <a:ext cx="11049000" cy="790575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375" y="4672012"/>
            <a:ext cx="103346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Overfitting Risk: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A tree allowed to grow infinitely will memorize the training data, creating a branch for every single outlier. We must use "pruning" or set a "max depth".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29289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3672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53101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324100"/>
            <a:ext cx="1714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267075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4705350"/>
            <a:ext cx="190500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Decision Trees: Mechanics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13223"/>
            <a:ext cx="5334000" cy="319355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13223"/>
            <a:ext cx="5334000" cy="319355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3451473"/>
            <a:ext cx="4838700" cy="61704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694360"/>
            <a:ext cx="4838700" cy="6170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2460873"/>
            <a:ext cx="508063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369A1"/>
                </a:solidFill>
                <a:latin typeface="Plus Jakarta Sans SemiBold"/>
              </a:rPr>
              <a:t>Information Gain (Entropy)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2822823"/>
            <a:ext cx="48387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Measures how much a split reduces uncertainty. The algorithm chooses the feature split that results in the purest child nodes.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4211389"/>
            <a:ext cx="4838700" cy="590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34150" y="2460873"/>
            <a:ext cx="508063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369A1"/>
                </a:solidFill>
                <a:latin typeface="Plus Jakarta Sans SemiBold"/>
              </a:rPr>
              <a:t>Gini Impurity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2822823"/>
            <a:ext cx="48387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Measures the probability of misclassifying a random data point if labeled according to the distribution in the node. Faster to compute than Entropy.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4454276"/>
            <a:ext cx="4838700" cy="590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5328" y="3575298"/>
            <a:ext cx="2166193" cy="369391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0198" y="3818185"/>
            <a:ext cx="1866602" cy="3693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Tree Splitting Criteria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888</Words>
  <Application>Microsoft Office PowerPoint</Application>
  <PresentationFormat>Custom</PresentationFormat>
  <Paragraphs>116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Supervised vs. Unsupervised Learning</vt:lpstr>
      <vt:lpstr>Slide 3</vt:lpstr>
      <vt:lpstr>Slide 4</vt:lpstr>
      <vt:lpstr>Slide 5</vt:lpstr>
      <vt:lpstr>Slide 6</vt:lpstr>
      <vt:lpstr>Induction Algorithms</vt:lpstr>
      <vt:lpstr>Types of Induction Algorithms</vt:lpstr>
      <vt:lpstr>Decision Tree Induction</vt:lpstr>
      <vt:lpstr>General Steps of Induction</vt:lpstr>
      <vt:lpstr>Advantages, Limitations &amp; Applications</vt:lpstr>
      <vt:lpstr>Applications</vt:lpstr>
      <vt:lpstr>Slide 13</vt:lpstr>
      <vt:lpstr>Slide 14</vt:lpstr>
      <vt:lpstr>Slide 15</vt:lpstr>
      <vt:lpstr>Slide 16</vt:lpstr>
      <vt:lpstr>Slide 17</vt:lpstr>
      <vt:lpstr>Slide 18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DYP</cp:lastModifiedBy>
  <cp:revision>8</cp:revision>
  <dcterms:created xsi:type="dcterms:W3CDTF">2013-01-27T09:14:16Z</dcterms:created>
  <dcterms:modified xsi:type="dcterms:W3CDTF">2026-09-03T05:45:01Z</dcterms:modified>
  <cp:category/>
</cp:coreProperties>
</file>